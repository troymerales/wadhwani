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>
                <a:solidFill>
                  <a:srgbClr val="6B6B6B"/>
                </a:solidFill>
                <a:latin typeface="Calibri"/>
              </a:rPr>
              <a:t>% of completers High Risk, by partner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High Risk</c:v>
                </c:pt>
              </c:strCache>
            </c:strRef>
          </c:tx>
          <c:dPt>
            <c:idx val="0"/>
            <c:spPr>
              <a:solidFill>
                <a:srgbClr val="6B6B6B"/>
              </a:solidFill>
            </c:spPr>
          </c:dPt>
          <c:dPt>
            <c:idx val="1"/>
            <c:spPr>
              <a:solidFill>
                <a:srgbClr val="6B6B6B"/>
              </a:solidFill>
            </c:spPr>
          </c:dPt>
          <c:dPt>
            <c:idx val="2"/>
            <c:spPr>
              <a:solidFill>
                <a:srgbClr val="D03B3B"/>
              </a:solidFill>
            </c:spPr>
          </c:dPt>
          <c:dPt>
            <c:idx val="3"/>
            <c:spPr>
              <a:solidFill>
                <a:srgbClr val="D03B3B"/>
              </a:solidFill>
            </c:spPr>
          </c:dPt>
          <c:cat>
            <c:strRef>
              <c:f>Sheet1!$A$2:$A$5</c:f>
              <c:strCache>
                <c:ptCount val="4"/>
                <c:pt idx="0">
                  <c:v>NU Dasmariñas</c:v>
                </c:pt>
                <c:pt idx="1">
                  <c:v>Citi Global SHS</c:v>
                </c:pt>
                <c:pt idx="2">
                  <c:v>Trimex Colleges</c:v>
                </c:pt>
                <c:pt idx="3">
                  <c:v>TRIMEX SHS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0.07</c:v>
                </c:pt>
                <c:pt idx="1">
                  <c:v>0.12</c:v>
                </c:pt>
                <c:pt idx="2">
                  <c:v>0.58</c:v>
                </c:pt>
                <c:pt idx="3">
                  <c:v>0.88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cohorts finish far faster than the course allows. The question is whether we can count those completions as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1,866 completers across 5 partners. Risk is concentrated, not programme-wide. Quiz scores are high either way, so they do not prove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checks on data the LMS already has. One check means watch. Two or more means verify before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flag triggers verification, not a penalty. Governance keeps reported numbers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decisions make the numbers defensible. The first 90 days test the thresholds with real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67665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222222"/>
                </a:solidFill>
                <a:latin typeface="Calibri"/>
              </a:rPr>
              <a:t>Completions are up.</a:t>
            </a:r>
          </a:p>
          <a:p>
            <a:pPr>
              <a:spcAft>
                <a:spcPts val="800"/>
              </a:spcAft>
            </a:pPr>
            <a:r>
              <a:rPr sz="4400" b="1">
                <a:solidFill>
                  <a:srgbClr val="222222"/>
                </a:solidFill>
                <a:latin typeface="Calibri"/>
              </a:rPr>
              <a:t>Is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6B6B6B"/>
                </a:solidFill>
                <a:latin typeface="Calibri"/>
              </a:rPr>
              <a:t>Some cohorts finish the 109-hour course far faster than the planned 25 days.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73736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219456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6600" b="1">
                <a:solidFill>
                  <a:srgbClr val="D03B3B"/>
                </a:solidFill>
                <a:latin typeface="Calibri"/>
              </a:rPr>
              <a:t>1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34747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median time TRIMEX SHS students took to finish all 14 assessments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222222"/>
                </a:solidFill>
                <a:latin typeface="Calibri"/>
              </a:rPr>
              <a:t>The risk is concentrated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D03B3B"/>
                </a:solidFill>
                <a:latin typeface="Calibri"/>
              </a:rPr>
              <a:t>18%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938528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of completers are High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222222"/>
                </a:solidFill>
                <a:latin typeface="Calibri"/>
              </a:rP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401568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passed with under half the lessons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222222"/>
                </a:solidFill>
                <a:latin typeface="Calibri"/>
              </a:rPr>
              <a:t>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864607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look like genuine fast learners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035040" y="155448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222222"/>
                </a:solidFill>
                <a:latin typeface="Calibri"/>
              </a:rPr>
              <a:t>Three simple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01168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D03B3B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51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Too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54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Under half the planned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201168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D03B3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651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Crammed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3154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All assessments in 2 days or fewer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D03B3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51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22222"/>
                </a:solidFill>
                <a:latin typeface="Calibri"/>
              </a:rPr>
              <a:t>Lessons skipped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154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Under half the lessons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1 check = Watch  ·  2+ checks = High Risk  ·  Cohort is Red when 30%+ are High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Runs every 2 weeks on existing LMS data. No new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222222"/>
                </a:solidFill>
                <a:latin typeface="Calibri"/>
              </a:rPr>
              <a:t>What happens on an alert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856231"/>
            <a:ext cx="310896" cy="310896"/>
          </a:xfrm>
          <a:prstGeom prst="ellipse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783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819656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6B6B6B"/>
                </a:solidFill>
                <a:latin typeface="Calibri"/>
              </a:rPr>
              <a:t>Partner call in 5 days · re-assess a sample · hold completions as pending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816352"/>
            <a:ext cx="310896" cy="310896"/>
          </a:xfrm>
          <a:prstGeom prst="ellipse">
            <a:avLst/>
          </a:prstGeom>
          <a:solidFill>
            <a:srgbClr val="E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743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Amber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79776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6B6B6B"/>
                </a:solidFill>
                <a:latin typeface="Calibri"/>
              </a:rPr>
              <a:t>Check batch schedule and facilitation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76472"/>
            <a:ext cx="310896" cy="310896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Escalate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39896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6B6B6B"/>
                </a:solidFill>
                <a:latin typeface="Calibri"/>
              </a:rPr>
              <a:t>2 Red batches in a row → Country 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13892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Governance: report verified and reported graduates side by side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222222"/>
                </a:solidFill>
                <a:latin typeface="Calibri"/>
              </a:rPr>
              <a:t>Decisions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D03B3B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92224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Count High Risk completers as pending until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D03B3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15184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No batch window shorter than the planned course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D03B3B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38144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Lock assessments until lessons are done; supervise the final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D03B3B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61103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Fund verification of a 10% employment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73736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011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Next 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0604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Verify TRIMEX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Run 2 cycles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Recalibrate thresholds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